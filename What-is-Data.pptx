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7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188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hook: everything students see around them can be turned into data. This lecture answers three questions: what is data, what forms does it take, and where is it 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class: name three things about yourself that a university system would need to store. Everything they say is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label here is one attribute. Later, a collection of these attributes becomes a record, a struct, or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three-step pipeline behind every application they will ever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cannot divide two names; you cannot capitalise a number. Types protect us from meaningless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why age is not stored as a decimal, and why an ID with leading zeros is often text, not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difference between a toy exercise and a real application: real applications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the disk is the library, RAM is the desk you work on, the CPU is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of thumb: a file for a handful of records, a database once you need to search, relate or protect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down is roughly an order of magnitude slower but far larger. Good data structures keep hot data near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picture behind stack overflow and memory leaks — both come back in the data structures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Dynamic structures — linked lists, trees, growable arrays — all live on the heap. That is why we care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data structures are simply organised ways of keeping data in memory so the operations we need stay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58E7A3-94F9-D9AF-FCAD-EC14625A79E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71539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1691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 ·  LECTURE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574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Your World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the Computer's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862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— and where does it live?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5262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·  Data types  ·  Storage  ·  Memory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0" y="1737360"/>
            <a:ext cx="3840480" cy="3383280"/>
          </a:xfrm>
          <a:prstGeom prst="roundRect">
            <a:avLst>
              <a:gd name="adj" fmla="val 1081"/>
            </a:avLst>
          </a:prstGeom>
          <a:solidFill>
            <a:srgbClr val="E9F6F4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81812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5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student_record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2487168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909560" y="2487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372600" y="24871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"Menna"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2962656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909560" y="29626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372600" y="29626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0" y="3438144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909560" y="34381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372600" y="34381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0" y="3913632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09560" y="39136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is_enrolled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372600" y="39136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0" y="4389120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909560" y="4389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4389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image 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0972800" cy="1234440"/>
          </a:xfrm>
          <a:prstGeom prst="roundRect">
            <a:avLst>
              <a:gd name="adj" fmla="val 3704"/>
            </a:avLst>
          </a:prstGeom>
          <a:solidFill>
            <a:srgbClr val="E9F6F4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60120" y="178308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about the world around us that we need to know, record and use later.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3291840"/>
            <a:ext cx="338328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361188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22" y="3784702"/>
            <a:ext cx="294437" cy="29443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1440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describes something real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864608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person, a product, a lecture, a payment — data is always about some real thing.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43400" y="3291840"/>
            <a:ext cx="338328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63440" y="361188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262" y="3784702"/>
            <a:ext cx="294437" cy="29443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6344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recorded, not remembered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663440" y="4864608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down in a form the machine can keep: a number, a word, a file.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92440" y="3291840"/>
            <a:ext cx="338328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412480" y="361188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302" y="3784702"/>
            <a:ext cx="294437" cy="29443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1248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exists to be used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4864608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only valuable when a program turns it into an answer or a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data: one person, many facts</a:t>
            </a:r>
            <a:endParaRPr lang="en-US" sz="3200" dirty="0"/>
          </a:p>
        </p:txBody>
      </p:sp>
      <p:pic>
        <p:nvPicPr>
          <p:cNvPr id="5" name="Image 0" descr="unz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37360"/>
            <a:ext cx="1243584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417320" y="18745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645920" y="196596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258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"Ahmed Samir"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417320" y="292608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645920" y="301752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645920" y="3310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417320" y="39776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645920" y="406908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43616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223760" y="18745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452360" y="196596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2258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cm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223760" y="292608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452360" y="301752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COLOUR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452360" y="3310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223760" y="39776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DEA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452360" y="406908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452360" y="43616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7801… (14 digits)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is data too — it is simply a much larger piece of 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becomes information when we process 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337560" cy="2743200"/>
          </a:xfrm>
          <a:prstGeom prst="roundRect">
            <a:avLst>
              <a:gd name="adj" fmla="val 1667"/>
            </a:avLst>
          </a:prstGeom>
          <a:solidFill>
            <a:srgbClr val="E9F6F4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159" y="2326599"/>
            <a:ext cx="302849" cy="30284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3649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we collect and store as they are.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0416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of 40 students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2971800"/>
            <a:ext cx="347472" cy="347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0" y="1828800"/>
            <a:ext cx="3337560" cy="2743200"/>
          </a:xfrm>
          <a:prstGeom prst="roundRect">
            <a:avLst>
              <a:gd name="adj" fmla="val 1667"/>
            </a:avLst>
          </a:prstGeom>
          <a:solidFill>
            <a:srgbClr val="E9F6F4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892040" y="2148840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9799" y="2326599"/>
            <a:ext cx="302849" cy="30284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89204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4892040" y="33649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applies rules, maths and logic.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92040" y="40416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divide, compare</a:t>
            </a:r>
            <a:endParaRPr lang="en-US" sz="13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971800"/>
            <a:ext cx="347472" cy="34747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549640" y="1828800"/>
            <a:ext cx="3337560" cy="2743200"/>
          </a:xfrm>
          <a:prstGeom prst="roundRect">
            <a:avLst>
              <a:gd name="adj" fmla="val 1667"/>
            </a:avLst>
          </a:prstGeom>
          <a:solidFill>
            <a:srgbClr val="FDF0E4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8869680" y="2148840"/>
            <a:ext cx="658368" cy="658368"/>
          </a:xfrm>
          <a:prstGeom prst="ellipse">
            <a:avLst/>
          </a:prstGeom>
          <a:solidFill>
            <a:srgbClr val="D9670F"/>
          </a:solidFill>
          <a:ln w="12700">
            <a:solidFill>
              <a:srgbClr val="D967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7439" y="2326599"/>
            <a:ext cx="302849" cy="30284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86968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result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8869680" y="33649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a human can act on.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8869680" y="40416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average = 76%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94360" y="489204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960120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processing, data is just stored facts. Without data, processing has nothing to work 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 FORMATS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does not come in one shape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514600" cy="32004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121408"/>
            <a:ext cx="621792" cy="6217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64" y="2289292"/>
            <a:ext cx="286024" cy="286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addresses, messages.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315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"Cairo", "CS101"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29000" y="1828800"/>
            <a:ext cx="2514600" cy="32004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703320" y="2121408"/>
            <a:ext cx="621792" cy="6217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204" y="2289292"/>
            <a:ext cx="286024" cy="286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70332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70332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 for counts, decimals for measures.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703320" y="4315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 ·   3.45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63640" y="1828800"/>
            <a:ext cx="2514600" cy="32004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537960" y="2121408"/>
            <a:ext cx="621792" cy="6217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844" y="2289292"/>
            <a:ext cx="286024" cy="2860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53796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Booleans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53796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possible answers: yes or no.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537960" y="4315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/  false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098280" y="1828800"/>
            <a:ext cx="2514600" cy="32004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372600" y="2121408"/>
            <a:ext cx="621792" cy="6217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0484" y="2289292"/>
            <a:ext cx="286024" cy="2860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7260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937260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audio and video — stored as raw bytes.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372600" y="4315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photo.jpg, clip.mp4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94360" y="5257800"/>
            <a:ext cx="10972800" cy="777240"/>
          </a:xfrm>
          <a:prstGeom prst="roundRect">
            <a:avLst>
              <a:gd name="adj" fmla="val 5882"/>
            </a:avLst>
          </a:prstGeom>
          <a:solidFill>
            <a:srgbClr val="E9F6F4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960120" y="52578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decides how much memory the value takes and what operations are allowed on it.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real fact to a type in code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10972800" cy="340156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fact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in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"Menna Ali"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/ 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E73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with length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(whole number)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E73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3.45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/ double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E73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– 8 bytes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enrolled?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E73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byte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photo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photo.jpg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/ file (BLOB)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E73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kilobytes – megabytes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" y="5440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smallest type that fits is the first optimisation a programmer ever makes.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store data at all?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30352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212848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22" y="2385670"/>
            <a:ext cx="294437" cy="2944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25146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nothing is lost when the program closes or the device is switched off — your Facebook account is still there tomorrow.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30352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83680" y="2212848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502" y="2385670"/>
            <a:ext cx="294437" cy="2944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0664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406640" y="25146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can compute with it: a student total, an invoice, a monthly report.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94360" y="3886200"/>
            <a:ext cx="530352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14400" y="4270248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222" y="4443070"/>
            <a:ext cx="294437" cy="29443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3736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analysis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737360" y="45720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can find one item among millions — a contact in your phone book, an order in a shop.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63640" y="3886200"/>
            <a:ext cx="530352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583680" y="4270248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6502" y="4443070"/>
            <a:ext cx="294437" cy="29443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0664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7406640" y="45720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system can react: warn about a low balance, flag an absent student, recommend a product.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data live?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03520" cy="3200400"/>
          </a:xfrm>
          <a:prstGeom prst="roundRect">
            <a:avLst>
              <a:gd name="adj" fmla="val 1429"/>
            </a:avLst>
          </a:prstGeom>
          <a:solidFill>
            <a:srgbClr val="E9F6F4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10312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630" y="2300630"/>
            <a:ext cx="336499" cy="33649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2121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storage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487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disk / SSD — permanent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0175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capacity (hundreds of GB and more)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memory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data even with no power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write to it as files or databases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1783080"/>
            <a:ext cx="5303520" cy="3200400"/>
          </a:xfrm>
          <a:prstGeom prst="roundRect">
            <a:avLst>
              <a:gd name="adj" fmla="val 1429"/>
            </a:avLst>
          </a:prstGeom>
          <a:solidFill>
            <a:srgbClr val="FDF0E4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629400" y="2103120"/>
            <a:ext cx="731520" cy="731520"/>
          </a:xfrm>
          <a:prstGeom prst="ellipse">
            <a:avLst/>
          </a:prstGeom>
          <a:solidFill>
            <a:srgbClr val="D9670F"/>
          </a:solidFill>
          <a:ln w="12700">
            <a:solidFill>
              <a:srgbClr val="D967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910" y="2300630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43800" y="2121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storage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7543800" y="2487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— temporary working memory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675120" y="30175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smaller capacity (a few GB)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to read and write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Erased when the program closes or power is cut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can only work on data that is here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94360" y="5166360"/>
            <a:ext cx="109728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14400" y="5376672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877" y="5537149"/>
            <a:ext cx="273406" cy="27340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737360" y="51663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program = moving the data it needs from the disk into RAM, working on it there, then writing the results back.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STORAGE IN PRACTICE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disk: files or databases?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0352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103120"/>
            <a:ext cx="685800" cy="6858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286" y="2288286"/>
            <a:ext cx="315468" cy="3154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CSV, JSON, images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0175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no extra software needed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settings, logs, exports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copy and share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502920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E9F6F4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14400" y="5029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search the whole file yourself; no safety if two users write at once.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530352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629400" y="210312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566" y="2288286"/>
            <a:ext cx="315468" cy="3154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49808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749808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PostgreSQL, SQLite, MongoDB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675120" y="30175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search through millions of records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keep the data consistent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 at the same time, safely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63640" y="502920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E9F6F4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6583680" y="5029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setup, and a query language to learn.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VS. SIZE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memory hierarchy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0" y="1783080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016D7A"/>
          </a:solidFill>
          <a:ln w="12700">
            <a:solidFill>
              <a:srgbClr val="016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114800" y="17830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registers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17830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hundred bytes  ·  &lt; 1 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551176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474720" y="255117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 (L1 · L2 · L3)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55117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to tens of MB  ·  1 – 20 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3319272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834640" y="331927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(main memory)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3192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gigabytes  ·  ~100 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4087368"/>
            <a:ext cx="6583680" cy="658368"/>
          </a:xfrm>
          <a:prstGeom prst="roundRect">
            <a:avLst>
              <a:gd name="adj" fmla="val 8333"/>
            </a:avLst>
          </a:prstGeom>
          <a:solidFill>
            <a:srgbClr val="7CC9BD"/>
          </a:solidFill>
          <a:ln w="12700">
            <a:solidFill>
              <a:srgbClr val="7CC9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194560" y="4087368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408736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GB  ·  ~100 µs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54480" y="4855464"/>
            <a:ext cx="7863840" cy="658368"/>
          </a:xfrm>
          <a:prstGeom prst="roundRect">
            <a:avLst>
              <a:gd name="adj" fmla="val 8333"/>
            </a:avLst>
          </a:prstGeom>
          <a:solidFill>
            <a:srgbClr val="D6EDEA"/>
          </a:solidFill>
          <a:ln w="12700">
            <a:solidFill>
              <a:srgbClr val="D6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554480" y="485546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disk / network storage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0" y="485546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terabytes  ·  ~10 ms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19202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COSTLIER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4434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5715000"/>
            <a:ext cx="10972800" cy="640080"/>
          </a:xfrm>
          <a:prstGeom prst="roundRect">
            <a:avLst>
              <a:gd name="adj" fmla="val 7143"/>
            </a:avLst>
          </a:prstGeom>
          <a:solidFill>
            <a:srgbClr val="E9F6F4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60120" y="57150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sits inside the processor and keeps a copy of the data used most often, so the CPU rarely waits for RAM.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MEMORY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program is laid out in RAM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D6EDEA"/>
          </a:solidFill>
          <a:ln w="12700">
            <a:solidFill>
              <a:srgbClr val="D9E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178308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Code / Text segment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78308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compiled instructions — read-only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551176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E9F6F4"/>
          </a:solidFill>
          <a:ln w="12700">
            <a:solidFill>
              <a:srgbClr val="D9E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255117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Initialized data (.data)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255117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 and statics that were given a value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319272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E9F6F4"/>
          </a:solidFill>
          <a:ln w="12700">
            <a:solidFill>
              <a:srgbClr val="D9E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68680" y="331927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Uninitialized data (.bss)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3319272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 and statics that start at zero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087368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DF0E4"/>
          </a:solidFill>
          <a:ln w="12700">
            <a:solidFill>
              <a:srgbClr val="D9E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408736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Heap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408736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you request while running (new / malloc) — grows downward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855464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DF0E4"/>
          </a:solidFill>
          <a:ln w="12700">
            <a:solidFill>
              <a:srgbClr val="D9E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68680" y="485546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Stack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485546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variables and function calls — grows upward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5669280"/>
            <a:ext cx="108356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005840" y="56692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and stack share the same free space and grow towards each other — when they meet, the program runs out of memory.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GET MEMORY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vs. Heap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03520" cy="4114800"/>
          </a:xfrm>
          <a:prstGeom prst="roundRect">
            <a:avLst>
              <a:gd name="adj" fmla="val 1111"/>
            </a:avLst>
          </a:prstGeom>
          <a:solidFill>
            <a:srgbClr val="E9F6F4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84832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879" y="2262591"/>
            <a:ext cx="302849" cy="30284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005840" y="2926080"/>
            <a:ext cx="44805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188720" y="2926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marks[30];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97764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known at compile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and freed automatically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fast, but limited in size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 when the function returns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4114800"/>
          </a:xfrm>
          <a:prstGeom prst="roundRect">
            <a:avLst>
              <a:gd name="adj" fmla="val 1111"/>
            </a:avLst>
          </a:prstGeom>
          <a:solidFill>
            <a:srgbClr val="FDF0E4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629400" y="2084832"/>
            <a:ext cx="658368" cy="658368"/>
          </a:xfrm>
          <a:prstGeom prst="ellipse">
            <a:avLst/>
          </a:prstGeom>
          <a:solidFill>
            <a:srgbClr val="D9670F"/>
          </a:solidFill>
          <a:ln w="12700">
            <a:solidFill>
              <a:srgbClr val="D967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159" y="2262591"/>
            <a:ext cx="302849" cy="30284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9808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675120" y="2926080"/>
            <a:ext cx="44805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6858000" y="2926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marks =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int[n];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675120" y="397764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can be decided while running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free it yourself (delete / free)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but as large as memory allows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until you release it — or it leaks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55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leads us to data structures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0972800" cy="713232"/>
          </a:xfrm>
          <a:prstGeom prst="roundRect">
            <a:avLst>
              <a:gd name="adj" fmla="val 6410"/>
            </a:avLst>
          </a:prstGeom>
          <a:solidFill>
            <a:srgbClr val="E9F6F4"/>
          </a:solidFill>
          <a:ln w="12700">
            <a:solidFill>
              <a:srgbClr val="D9E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911096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034540"/>
            <a:ext cx="210312" cy="210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783080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any fact about the world that we record so a program can use it.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2624328"/>
            <a:ext cx="109728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22960" y="2752344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875788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62432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type decides its size in memory and the operations allowed on it.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94360" y="3465576"/>
            <a:ext cx="10972800" cy="713232"/>
          </a:xfrm>
          <a:prstGeom prst="roundRect">
            <a:avLst>
              <a:gd name="adj" fmla="val 6410"/>
            </a:avLst>
          </a:prstGeom>
          <a:solidFill>
            <a:srgbClr val="E9F6F4"/>
          </a:solidFill>
          <a:ln w="12700">
            <a:solidFill>
              <a:srgbClr val="D9E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22960" y="3593592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3717036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465576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store it to keep it, compute with it, search it and decide from it.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94360" y="4306824"/>
            <a:ext cx="109728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E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822960" y="443484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4558284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306824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keeps it safely; RAM makes it fast — every program moves data between them.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94360" y="5257800"/>
            <a:ext cx="10972800" cy="1005840"/>
          </a:xfrm>
          <a:prstGeom prst="roundRect">
            <a:avLst>
              <a:gd name="adj" fmla="val 4545"/>
            </a:avLst>
          </a:prstGeom>
          <a:solidFill>
            <a:srgbClr val="FDF0E4"/>
          </a:solidFill>
          <a:ln w="12700">
            <a:solidFill>
              <a:srgbClr val="D9E7E6"/>
            </a:solidFill>
            <a:prstDash val="solid"/>
          </a:ln>
          <a:effectLst>
            <a:outerShdw blurRad="127000" dist="25400" dir="5400000" algn="bl" rotWithShape="0">
              <a:srgbClr val="9FBCB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914400" y="5468112"/>
            <a:ext cx="594360" cy="594360"/>
          </a:xfrm>
          <a:prstGeom prst="ellipse">
            <a:avLst/>
          </a:prstGeom>
          <a:solidFill>
            <a:srgbClr val="D9670F"/>
          </a:solidFill>
          <a:ln w="12700">
            <a:solidFill>
              <a:srgbClr val="D967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877" y="5628589"/>
            <a:ext cx="273406" cy="27340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525780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how we arrange data inside memory — arrays, stacks, queues, linked lists.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1428</Words>
  <Application>Microsoft Office PowerPoint</Application>
  <PresentationFormat>Widescreen</PresentationFormat>
  <Paragraphs>226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Your World to the Computer — What is Data?</dc:title>
  <dc:subject>PptxGenJS Presentation</dc:subject>
  <dc:creator>Course materials</dc:creator>
  <cp:lastModifiedBy>Mena Samy</cp:lastModifiedBy>
  <cp:revision>1</cp:revision>
  <dcterms:created xsi:type="dcterms:W3CDTF">2026-09-19T19:47:49Z</dcterms:created>
  <dcterms:modified xsi:type="dcterms:W3CDTF">2026-09-19T20:13:14Z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0c305d5-92c3-4e9c-a756-70361f1dd1b0_Enabled">
    <vt:lpwstr>true</vt:lpwstr>
  </property>
  <property fmtid="{D5CDD505-2E9C-101B-9397-08002B2CF9AE}" pid="3" name="MSIP_Label_00c305d5-92c3-4e9c-a756-70361f1dd1b0_SetDate">
    <vt:lpwstr>2026-09-19T20:13:14Z</vt:lpwstr>
  </property>
  <property fmtid="{D5CDD505-2E9C-101B-9397-08002B2CF9AE}" pid="4" name="MSIP_Label_00c305d5-92c3-4e9c-a756-70361f1dd1b0_Method">
    <vt:lpwstr>Standard</vt:lpwstr>
  </property>
  <property fmtid="{D5CDD505-2E9C-101B-9397-08002B2CF9AE}" pid="5" name="MSIP_Label_00c305d5-92c3-4e9c-a756-70361f1dd1b0_Name">
    <vt:lpwstr>public</vt:lpwstr>
  </property>
  <property fmtid="{D5CDD505-2E9C-101B-9397-08002B2CF9AE}" pid="6" name="MSIP_Label_00c305d5-92c3-4e9c-a756-70361f1dd1b0_SiteId">
    <vt:lpwstr>29d02b7a-fa50-40cc-8d1c-a452a519c6a5</vt:lpwstr>
  </property>
  <property fmtid="{D5CDD505-2E9C-101B-9397-08002B2CF9AE}" pid="7" name="MSIP_Label_00c305d5-92c3-4e9c-a756-70361f1dd1b0_ActionId">
    <vt:lpwstr>c6cc4126-5c81-420b-943b-12bbebabbfd0</vt:lpwstr>
  </property>
  <property fmtid="{D5CDD505-2E9C-101B-9397-08002B2CF9AE}" pid="8" name="MSIP_Label_00c305d5-92c3-4e9c-a756-70361f1dd1b0_ContentBits">
    <vt:lpwstr>1</vt:lpwstr>
  </property>
  <property fmtid="{D5CDD505-2E9C-101B-9397-08002B2CF9AE}" pid="9" name="MSIP_Label_00c305d5-92c3-4e9c-a756-70361f1dd1b0_Tag">
    <vt:lpwstr>10, 3, 0, 1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Public</vt:lpwstr>
  </property>
</Properties>
</file>